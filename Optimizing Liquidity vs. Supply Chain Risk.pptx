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Playfair Display"/>
      <p:regular r:id="rId19"/>
      <p:bold r:id="rId20"/>
      <p:italic r:id="rId21"/>
      <p:boldItalic r:id="rId22"/>
    </p:embeddedFont>
    <p:embeddedFont>
      <p:font typeface="Roboto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RobotoLight-bold.fntdata"/><Relationship Id="rId23" Type="http://schemas.openxmlformats.org/officeDocument/2006/relationships/font" Target="fonts/Roboto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Light-boldItalic.fntdata"/><Relationship Id="rId25" Type="http://schemas.openxmlformats.org/officeDocument/2006/relationships/font" Target="fonts/Roboto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PlayfairDisplay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18369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Optimizing Liquidity vs. Supply Chain Risk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49810"/>
            <a:ext cx="11049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DDDDD"/>
                </a:solidFill>
                <a:latin typeface="Roboto Light"/>
                <a:ea typeface="Roboto Light"/>
                <a:cs typeface="Roboto Light"/>
                <a:sym typeface="Roboto Light"/>
              </a:rPr>
              <a:t>Operational Value-at-Risk (OpVaR) Modeling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DDDDDD"/>
                </a:solidFill>
                <a:latin typeface="Roboto Light"/>
                <a:ea typeface="Roboto Light"/>
                <a:cs typeface="Roboto Light"/>
                <a:sym typeface="Roboto Light"/>
              </a:rPr>
              <a:t> Case Study: Nairobi Distributor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388941"/>
            <a:ext cx="952500" cy="19050"/>
          </a:xfrm>
          <a:prstGeom prst="rect">
            <a:avLst/>
          </a:prstGeom>
          <a:solidFill>
            <a:srgbClr val="B91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693741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Technical Lead (Python/Stochastic Simulation) | February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669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235475"/>
            <a:ext cx="523875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51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Business Challenge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B91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1717774"/>
            <a:ext cx="550068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B91D47"/>
                </a:solidFill>
                <a:latin typeface="Roboto"/>
                <a:ea typeface="Roboto"/>
                <a:cs typeface="Roboto"/>
                <a:sym typeface="Roboto"/>
              </a:rPr>
              <a:t>The $2M Standoff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136874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Context: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A major FMCG distributor in Nairobi facing rising working capital costs due to high interest rates.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016746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The Conflict: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669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3561457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CFO: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Demands $2M reduction in inventory holding to unlock liquidity.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4374653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SC Director: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Refuses cuts, citing volatile lead times (Mombasa Port) and fear of stockouts.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00100" y="5425975"/>
            <a:ext cx="4819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"If we cut inventory by 20%, what is the exact statistical probability that we will fail to deliver?"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3542407"/>
            <a:ext cx="857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D4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4355603"/>
            <a:ext cx="857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D4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57350"/>
            <a:ext cx="3492549" cy="3714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1657350"/>
            <a:ext cx="3492549" cy="3714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1657350"/>
            <a:ext cx="3492549" cy="371415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51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Methodology: Beyond Excel Averages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B91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784223" y="2724150"/>
            <a:ext cx="30671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1C2C"/>
                </a:solidFill>
                <a:latin typeface="Roboto"/>
                <a:ea typeface="Roboto"/>
                <a:cs typeface="Roboto"/>
                <a:sym typeface="Roboto"/>
              </a:rPr>
              <a:t>The Flaw of Averages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57250" y="3200400"/>
            <a:ext cx="2921049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Standard Excel analysis uses "average lead times" (e.g., 14 days), failing to account for supply chain shocks like port delays or customs holds.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562523" y="2724150"/>
            <a:ext cx="30671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1C2C"/>
                </a:solidFill>
                <a:latin typeface="Roboto"/>
                <a:ea typeface="Roboto"/>
                <a:cs typeface="Roboto"/>
                <a:sym typeface="Roboto"/>
              </a:rPr>
              <a:t>Stochastic Modeling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35549" y="3200400"/>
            <a:ext cx="2921049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Instead of single values, we modeled distributions: Demand volatility (Normal) and Lead-time variance (Log-Normal) to capture "Long Tail" risks.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40822" y="2724150"/>
            <a:ext cx="30671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1C2C"/>
                </a:solidFill>
                <a:latin typeface="Roboto"/>
                <a:ea typeface="Roboto"/>
                <a:cs typeface="Roboto"/>
                <a:sym typeface="Roboto"/>
              </a:rPr>
              <a:t>Monte Carlo Simulation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13849" y="3200400"/>
            <a:ext cx="2921049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Simulated 10,000 discrete future scenarios using Python to generate a probability surface for stockouts under various inventory policies.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6250" y="201930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0193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4274" y="2019300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60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19351"/>
            <a:ext cx="45720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62000" y="1013668"/>
            <a:ext cx="4800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51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Analytical Engine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62000" y="1737568"/>
            <a:ext cx="4800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Python + NumPy + Pandas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2213818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We built a custom simulation engine to test inventory policies against thousands of potential futures.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5162401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Output:</a:t>
            </a:r>
            <a:r>
              <a:rPr b="0" i="0" lang="en-US" sz="13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A definitive "Risk Curve" visualizing the trade-off between Cash Released and Stockout Probability.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14425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28575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51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Evidence: Optimization Trade-off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704850"/>
            <a:ext cx="11049000" cy="28575"/>
          </a:xfrm>
          <a:prstGeom prst="rect">
            <a:avLst/>
          </a:prstGeom>
          <a:solidFill>
            <a:srgbClr val="B91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669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51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Strategic Recommendation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B91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2083593"/>
            <a:ext cx="550068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51C2C"/>
                </a:solidFill>
                <a:latin typeface="Roboto"/>
                <a:ea typeface="Roboto"/>
                <a:cs typeface="Roboto"/>
                <a:sym typeface="Roboto"/>
              </a:rPr>
              <a:t>The Verdict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71500" y="2502693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We recommended a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Dynamic Tiered Stocking Policy</a:t>
            </a: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rather than a blanket cut.</a:t>
            </a:r>
            <a:endParaRPr/>
          </a:p>
        </p:txBody>
      </p:sp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669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762000" y="3458765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Tier A (High Volatility SKUs):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Maintain current safety stock coverage. These items drive the "long tail" risk.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62000" y="4702373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Tier B (Stable SKUs):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Aggressively cut buffers by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20%</a:t>
            </a: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Demand is predictable enough to weather lead-time variance.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3439715"/>
            <a:ext cx="857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D4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4683323"/>
            <a:ext cx="857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D4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51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Business Impact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B91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571500" y="37909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"We moved from guessing to calculating our risk appetite."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2038350"/>
            <a:ext cx="3683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B91D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$1.5M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3048000"/>
            <a:ext cx="36830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1C2C"/>
                </a:solidFill>
                <a:latin typeface="Roboto"/>
                <a:ea typeface="Roboto"/>
                <a:cs typeface="Roboto"/>
                <a:sym typeface="Roboto"/>
              </a:rPr>
              <a:t>WORKING CAPITAL UNLOCKED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4254549" y="2038350"/>
            <a:ext cx="3683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B91D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98.5%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254549" y="3048000"/>
            <a:ext cx="36830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1C2C"/>
                </a:solidFill>
                <a:latin typeface="Roboto"/>
                <a:ea typeface="Roboto"/>
                <a:cs typeface="Roboto"/>
                <a:sym typeface="Roboto"/>
              </a:rPr>
              <a:t>SERVICE LEVEL MAINTAINED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7937599" y="2038350"/>
            <a:ext cx="3683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B91D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7937599" y="3048000"/>
            <a:ext cx="36830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1C2C"/>
                </a:solidFill>
                <a:latin typeface="Roboto"/>
                <a:ea typeface="Roboto"/>
                <a:cs typeface="Roboto"/>
                <a:sym typeface="Roboto"/>
              </a:rPr>
              <a:t>OPERATIONAL DISRUPTIONS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/>
        </p:nvSpPr>
        <p:spPr>
          <a:xfrm>
            <a:off x="2540555" y="1788021"/>
            <a:ext cx="7110888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51C2C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2709862" y="2750046"/>
            <a:ext cx="67722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This project demonstrates the power of quantitative modeling in logistics.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3414712" y="3980557"/>
            <a:ext cx="536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GitHub: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github.com/mutuku-geoffrey-m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3414712" y="4525267"/>
            <a:ext cx="536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LinkedIn:</a:t>
            </a:r>
            <a:r>
              <a:rPr lang="en-US" sz="165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linkedin.com/in/geoffrey-mutuku-86720b3a8</a:t>
            </a:r>
            <a:endParaRPr/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4712" y="4037707"/>
            <a:ext cx="2857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4712" y="4582417"/>
            <a:ext cx="2857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51C2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571500" y="1247775"/>
            <a:ext cx="11049000" cy="28575"/>
          </a:xfrm>
          <a:prstGeom prst="rect">
            <a:avLst/>
          </a:prstGeom>
          <a:solidFill>
            <a:srgbClr val="B91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71500" y="165735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71500" y="264021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71500" y="362307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1638300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D4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571500" y="26306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71500" y="26306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2621160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D4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71500" y="36135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71500" y="36135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3604021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D4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71500" y="43983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71500" y="43983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571500" y="4388792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D47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pic>
        <p:nvPicPr>
          <p:cNvPr descr="image.png"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058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1666875" y="180022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https://img.freepik.com/premium-photo/wide-shot-warehouse-filled-with-shelves-products-with-workers-using-forklifts-move-products-around-efficiently-warehouse-is-wellorganized-brightly-lit_73899-32743.jpg?w=360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666875" y="224403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www.freepik.com</a:t>
            </a:r>
            <a:endParaRPr/>
          </a:p>
        </p:txBody>
      </p:sp>
      <p:pic>
        <p:nvPicPr>
          <p:cNvPr descr="image.png" id="201" name="Google Shape;2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8875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1666875" y="278308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https://img.freepik.com/premium-photo/closeup-computer-screen-displaying-colorful-lines-code-representing-programming-language-syntax-software-development-coding-digital-data-it-web-development-script-monitor_256259-11608.jpg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666875" y="322689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www.freepik.com</a:t>
            </a:r>
            <a:endParaRPr/>
          </a:p>
        </p:txBody>
      </p:sp>
      <p:pic>
        <p:nvPicPr>
          <p:cNvPr descr="image.png" id="204" name="Google Shape;2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724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1666875" y="376594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https://img.freepik.com/premium-photo/abstract-visualization-global-supply-chain-network-featuring-trucks-moving-across-di_1288054-27334.jpg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1666875" y="401166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www.freepik.com</a:t>
            </a:r>
            <a:endParaRPr/>
          </a:p>
        </p:txBody>
      </p:sp>
      <p:pic>
        <p:nvPicPr>
          <p:cNvPr descr="image.png" id="207" name="Google Shape;20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572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1666875" y="455071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https://magazine.feaffa.com/wp-content/uploads/2024/07/Transshipment-Cargo-Photo.jpg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666875" y="479643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magazine.feaffa.com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